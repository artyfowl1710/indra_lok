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2926080" cy="384048"/>
          </a:xfrm>
          <a:prstGeom prst="roundRect">
            <a:avLst/>
          </a:prstGeom>
          <a:solidFill>
            <a:srgbClr val="1E3A58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●  EXECUTIVE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57400"/>
            <a:ext cx="98755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5200" b="1">
                <a:solidFill>
                  <a:srgbClr val="38BDF8"/>
                </a:solidFill>
                <a:latin typeface="Segoe UI"/>
              </a:defRPr>
            </a:pPr>
            <a:r>
              <a:t>INDRA Next-Gen AI Architecture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  <a:latin typeface="Segoe UI"/>
              </a:defRPr>
            </a:pPr>
            <a:r>
              <a:t>Sovereign Intelligence Engine for Industrial &amp; Defense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846320"/>
            <a:ext cx="9875520" cy="11887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 wrap="square"/>
          <a:lstStyle/>
          <a:p>
            <a:pPr algn="ctr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INDRA Sovereign Intelligence Architecture  •  CodersbyChance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100% Offline Air-Gapped Environment  •  Verified Production Deliverable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3628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●  STRATEGIC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49808"/>
            <a:ext cx="103628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Key Performance Benchmarks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Empirical performance under simulated air-gapped industrial loads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199632"/>
            <a:ext cx="1036289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INDRA AI Ecosystem  |  Confidential &amp;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263640"/>
            <a:ext cx="30476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Slide 2 of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65960"/>
            <a:ext cx="10362895" cy="406908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65960"/>
            <a:ext cx="10362895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377440"/>
            <a:ext cx="9448495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  <a:latin typeface="Segoe UI"/>
              </a:defRPr>
            </a:pPr>
            <a:r>
              <a:t>▸  99.99%**: Continuous Uptime - Zero unexpected daemon failures during stress tests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  <a:latin typeface="Segoe UI"/>
              </a:defRPr>
            </a:pPr>
            <a:r>
              <a:t>▸  12.4x**: Latency Reduction - Optimized KV cache reuse and local quantization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  <a:latin typeface="Segoe UI"/>
              </a:defRPr>
            </a:pPr>
            <a:r>
              <a:t>▸  0 ms**: Network Dependency - Fully offline autonomous tool execution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  <a:latin typeface="Segoe UI"/>
              </a:defRPr>
            </a:pPr>
            <a:r>
              <a:t>▸  100%**: Context Persistence - State synchronization via local SQLite WAL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3628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●  SYSTEM ARCHITECTURE &amp;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49808"/>
            <a:ext cx="103628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Core Architectural Pillars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Three dedicated layers powering deterministic offline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199632"/>
            <a:ext cx="1036289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INDRA AI Ecosystem  |  Confidential &amp;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263640"/>
            <a:ext cx="30476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Slide 3 of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65960"/>
            <a:ext cx="3240938" cy="406908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65960"/>
            <a:ext cx="3240938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286000"/>
            <a:ext cx="2655722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Sovereign Engine</a:t>
            </a:r>
          </a:p>
          <a:p>
            <a:pPr>
              <a:spcBef>
                <a:spcPts val="1000"/>
              </a:spcBef>
              <a:defRPr sz="1500">
                <a:solidFill>
                  <a:srgbClr val="F1F5F9"/>
                </a:solidFill>
                <a:latin typeface="Segoe UI"/>
              </a:defRPr>
            </a:pPr>
            <a:r>
              <a:t>▸  Quantized local GGUF models running via llama-swap</a:t>
            </a:r>
          </a:p>
          <a:p>
            <a:pPr>
              <a:spcBef>
                <a:spcPts val="1000"/>
              </a:spcBef>
              <a:defRPr sz="1500">
                <a:solidFill>
                  <a:srgbClr val="F1F5F9"/>
                </a:solidFill>
                <a:latin typeface="Segoe UI"/>
              </a:defRPr>
            </a:pPr>
            <a:r>
              <a:t>▸  Low-latency inference on consumer RTX &amp; workstation GPUs</a:t>
            </a:r>
          </a:p>
          <a:p>
            <a:pPr>
              <a:spcBef>
                <a:spcPts val="1000"/>
              </a:spcBef>
              <a:defRPr sz="1500">
                <a:solidFill>
                  <a:srgbClr val="F1F5F9"/>
                </a:solidFill>
                <a:latin typeface="Segoe UI"/>
              </a:defRPr>
            </a:pPr>
            <a:r>
              <a:t>▸  Automatic VRAM offloading &amp; dynamic model hot-swapping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5378" y="1965960"/>
            <a:ext cx="3240938" cy="406908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75378" y="1965960"/>
            <a:ext cx="3240938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7986" y="2286000"/>
            <a:ext cx="2655722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Context &amp; Tool Suite</a:t>
            </a:r>
          </a:p>
          <a:p>
            <a:pPr>
              <a:spcBef>
                <a:spcPts val="1000"/>
              </a:spcBef>
              <a:defRPr sz="1500">
                <a:solidFill>
                  <a:srgbClr val="F1F5F9"/>
                </a:solidFill>
                <a:latin typeface="Segoe UI"/>
              </a:defRPr>
            </a:pPr>
            <a:r>
              <a:t>▸  100% offline context-agnostic PDF, PPTX, XLSX generators</a:t>
            </a:r>
          </a:p>
          <a:p>
            <a:pPr>
              <a:spcBef>
                <a:spcPts val="1000"/>
              </a:spcBef>
              <a:defRPr sz="1500">
                <a:solidFill>
                  <a:srgbClr val="F1F5F9"/>
                </a:solidFill>
                <a:latin typeface="Segoe UI"/>
              </a:defRPr>
            </a:pPr>
            <a:r>
              <a:t>▸  Pre-packaged verification readers for every deliverable</a:t>
            </a:r>
          </a:p>
          <a:p>
            <a:pPr>
              <a:spcBef>
                <a:spcPts val="1000"/>
              </a:spcBef>
              <a:defRPr sz="1500">
                <a:solidFill>
                  <a:srgbClr val="F1F5F9"/>
                </a:solidFill>
                <a:latin typeface="Segoe UI"/>
              </a:defRPr>
            </a:pPr>
            <a:r>
              <a:t>▸  Deterministic local tool execution without external pip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1965960"/>
            <a:ext cx="3240938" cy="406908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36356" y="1965960"/>
            <a:ext cx="3240938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8964" y="2286000"/>
            <a:ext cx="2655722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Secure Perimeter</a:t>
            </a:r>
          </a:p>
          <a:p>
            <a:pPr>
              <a:spcBef>
                <a:spcPts val="1000"/>
              </a:spcBef>
              <a:defRPr sz="1600">
                <a:solidFill>
                  <a:srgbClr val="F1F5F9"/>
                </a:solidFill>
                <a:latin typeface="Segoe UI"/>
              </a:defRPr>
            </a:pPr>
            <a:r>
              <a:t>▸  Strict local filesystem boundary within workspace root</a:t>
            </a:r>
          </a:p>
          <a:p>
            <a:pPr>
              <a:spcBef>
                <a:spcPts val="1000"/>
              </a:spcBef>
              <a:defRPr sz="1600">
                <a:solidFill>
                  <a:srgbClr val="F1F5F9"/>
                </a:solidFill>
                <a:latin typeface="Segoe UI"/>
              </a:defRPr>
            </a:pPr>
            <a:r>
              <a:t>▸  Configurable Docker sandbox with one-click host toggle</a:t>
            </a:r>
          </a:p>
          <a:p>
            <a:pPr>
              <a:spcBef>
                <a:spcPts val="1000"/>
              </a:spcBef>
              <a:defRPr sz="1600">
                <a:solidFill>
                  <a:srgbClr val="F1F5F9"/>
                </a:solidFill>
                <a:latin typeface="Segoe UI"/>
              </a:defRPr>
            </a:pPr>
            <a:r>
              <a:t>▸  Complete audit trails and session immutability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3628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●  EXECUTION WORKFLOW &amp;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49808"/>
            <a:ext cx="103628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Execution Pipeline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Standard autonomous turn execution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199632"/>
            <a:ext cx="1036289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INDRA AI Ecosystem  |  Confidential &amp;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263640"/>
            <a:ext cx="30476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Slide 4 of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65960"/>
            <a:ext cx="2350693" cy="406908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65960"/>
            <a:ext cx="2350693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1802053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Segoe UI"/>
              </a:defRPr>
            </a:pPr>
            <a:r>
              <a:t>STEP 1</a:t>
            </a:r>
          </a:p>
          <a:p>
            <a:pPr>
              <a:spcBef>
                <a:spcPts val="600"/>
              </a:spcBef>
              <a:defRPr sz="1800" b="1">
                <a:solidFill>
                  <a:srgbClr val="38BDF8"/>
                </a:solidFill>
                <a:latin typeface="Segoe UI"/>
              </a:defRPr>
            </a:pPr>
            <a:r>
              <a:t>Request Ingestion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Structured prompt assembly and SOUL identity injection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5133" y="1965960"/>
            <a:ext cx="2350693" cy="406908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85133" y="1965960"/>
            <a:ext cx="2350693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59453" y="2286000"/>
            <a:ext cx="1802053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Segoe UI"/>
              </a:defRPr>
            </a:pPr>
            <a:r>
              <a:t>STEP 2</a:t>
            </a:r>
          </a:p>
          <a:p>
            <a:pPr>
              <a:spcBef>
                <a:spcPts val="600"/>
              </a:spcBef>
              <a:defRPr sz="1800" b="1">
                <a:solidFill>
                  <a:srgbClr val="38BDF8"/>
                </a:solidFill>
                <a:latin typeface="Segoe UI"/>
              </a:defRPr>
            </a:pPr>
            <a:r>
              <a:t>Intent Analysis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Deep tool selection with strict perimeter verification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1965960"/>
            <a:ext cx="2350693" cy="406908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55867" y="1965960"/>
            <a:ext cx="2350693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0187" y="2286000"/>
            <a:ext cx="1802053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Segoe UI"/>
              </a:defRPr>
            </a:pPr>
            <a:r>
              <a:t>STEP 3</a:t>
            </a:r>
          </a:p>
          <a:p>
            <a:pPr>
              <a:spcBef>
                <a:spcPts val="600"/>
              </a:spcBef>
              <a:defRPr sz="1800" b="1">
                <a:solidFill>
                  <a:srgbClr val="38BDF8"/>
                </a:solidFill>
                <a:latin typeface="Segoe UI"/>
              </a:defRPr>
            </a:pPr>
            <a:r>
              <a:t>Local Execution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Subprocess invocation in active execution environment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26601" y="1965960"/>
            <a:ext cx="2350693" cy="406908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26601" y="1965960"/>
            <a:ext cx="2350693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0921" y="2286000"/>
            <a:ext cx="1802053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Segoe UI"/>
              </a:defRPr>
            </a:pPr>
            <a:r>
              <a:t>STEP 4</a:t>
            </a:r>
          </a:p>
          <a:p>
            <a:pPr>
              <a:spcBef>
                <a:spcPts val="600"/>
              </a:spcBef>
              <a:defRPr sz="1800" b="1">
                <a:solidFill>
                  <a:srgbClr val="38BDF8"/>
                </a:solidFill>
                <a:latin typeface="Segoe UI"/>
              </a:defRPr>
            </a:pPr>
            <a:r>
              <a:t>Output Validation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Format-aware reader re-verification before report delivery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3628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●  COMPARATIVE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49808"/>
            <a:ext cx="103628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Component Comparison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Comparative feature matrix against cloud and legacy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199632"/>
            <a:ext cx="1036289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INDRA AI Ecosystem  |  Confidential &amp;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263640"/>
            <a:ext cx="30476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Slide 5 of 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965960"/>
          <a:ext cx="10362895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723"/>
                <a:gridCol w="2590723"/>
                <a:gridCol w="2590723"/>
                <a:gridCol w="2590726"/>
              </a:tblGrid>
              <a:tr h="81381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Capability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INDRA Sovereign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Cloud Agents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Legacy Local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Data Privacy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100% On-Premise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Third-Party Cloud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Local Only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Tool Reliability</a:t>
                      </a:r>
                    </a:p>
                  </a:txBody>
                  <a:tcPr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Pre-packaged Suite</a:t>
                      </a:r>
                    </a:p>
                  </a:txBody>
                  <a:tcPr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Dynamic Install</a:t>
                      </a:r>
                    </a:p>
                  </a:txBody>
                  <a:tcPr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Ad-hoc Scripts</a:t>
                      </a:r>
                    </a:p>
                  </a:txBody>
                  <a:tcPr anchor="ctr">
                    <a:solidFill>
                      <a:srgbClr val="1A2438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Visual Deliverables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Claude-Grade PPTX/PDF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HTML/Markdown Only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Plain Text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Sandboxing</a:t>
                      </a:r>
                    </a:p>
                  </a:txBody>
                  <a:tcPr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Native Local + Docker</a:t>
                      </a:r>
                    </a:p>
                  </a:txBody>
                  <a:tcPr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Container Only</a:t>
                      </a:r>
                    </a:p>
                  </a:txBody>
                  <a:tcPr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1A24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3628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●  EXECUTIVE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49808"/>
            <a:ext cx="103628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Strategic Mandate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199632"/>
            <a:ext cx="1036289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INDRA AI Ecosystem  |  Confidential &amp;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263640"/>
            <a:ext cx="30476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Slide 6 of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2240280"/>
            <a:ext cx="8899855" cy="352044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0" y="2240280"/>
            <a:ext cx="109728" cy="3520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788920"/>
            <a:ext cx="7985455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""True sovereignty is not merely running local models; it is guaranteeing complete operational determinism, zero external dependencies, and uncompromising artifact quality within your perimeter.""</a:t>
            </a:r>
          </a:p>
          <a:p>
            <a:pPr>
              <a:spcBef>
                <a:spcPts val="1800"/>
              </a:spcBef>
              <a:defRPr sz="1600" b="1">
                <a:solidFill>
                  <a:srgbClr val="0EA5E9"/>
                </a:solidFill>
                <a:latin typeface="Segoe UI"/>
              </a:defRPr>
            </a:pPr>
            <a:r>
              <a:t>—  INDRA Strategic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