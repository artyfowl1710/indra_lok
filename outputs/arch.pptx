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0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01168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000" b="1">
                <a:solidFill>
                  <a:srgbClr val="38BDF8"/>
                </a:solidFill>
                <a:latin typeface="Calibri"/>
              </a:defRPr>
            </a:pPr>
            <a:r>
              <a:t>AI Architecture Presentation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t>Slide 1: Executive Summary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t>Overview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t>Topic**: Autonomous AI Architecture for Enterprise Systems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t>Framework**: Hermes Agent (INDRA AI)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t>Target**: Scalable, secure, multi-agent AI infrastructure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t>Key Objectives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t>Deploy autonomous AI agents with persistent memory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t>Enable multi-agent collaboration and orchestration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t>Ensure security, scalability, and maintainability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t>Technology Stack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t>Core**: Python 3.12+ with Hermes Agent framework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t>Agents**: Parallel subagent delegation with isolated contexts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t>Memory**: Persistent session memory with compression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t>Skills**: Procedural memory for recurring tasks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t>Cron Jobs**: Scheduled autonomous task execution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t>Slide 2: Architecture Components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t>Core Components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t>| Component | Description | Responsibility |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t>|-----------|-------------|----------------|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t>| **Hermes Agent** | Main orchestration layer | Task coordination, context management |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t>| **Subagents** | Parallel isolated agents | Specialized work in parallel |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t>| **Skills** | Procedural knowledge base | Task-specific workflows and tools |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t>| **Memory** | Persistent fact storage | Cross-session state preservation |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t>| **Cron Jobs** | Scheduled execution | Background autonomous tasks |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t>Communication Flow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t>```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t>User Request → Hermes Agent → Subagents (parallel) → Consolidated Result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t>↓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t>Skills + Memory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t>↓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t>Cron Jobs (as needed)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t>```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t>Key Features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t>Isolation**: Each subagent has dedicated terminal session and toolset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t>Parallelism**: Up to 10 concurrent subagents for complex workstreams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t>Context Awareness**: Skills loaded automatically for relevant tasks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t>Memory Injection**: Facts persist across all sessions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t>Slide 3: Implementation &amp; Deployment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t>Setup Requirements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t>```bash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0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7315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8BDF8"/>
                </a:solidFill>
                <a:latin typeface="Calibri"/>
              </a:defRPr>
            </a:pPr>
            <a:r>
              <a:t>Prerequisites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E2E8F0"/>
                </a:solidFill>
              </a:defRPr>
            </a:pPr>
            <a:r>
              <a:t>•  Python 3.12+</a:t>
            </a:r>
          </a:p>
          <a:p>
            <a:pPr>
              <a:spcBef>
                <a:spcPts val="800"/>
              </a:spcBef>
              <a:defRPr sz="1800">
                <a:solidFill>
                  <a:srgbClr val="E2E8F0"/>
                </a:solidFill>
              </a:defRPr>
            </a:pPr>
            <a:r>
              <a:t>•  Hermes Agent framework installed</a:t>
            </a:r>
          </a:p>
          <a:p>
            <a:pPr>
              <a:spcBef>
                <a:spcPts val="800"/>
              </a:spcBef>
              <a:defRPr sz="1800">
                <a:solidFill>
                  <a:srgbClr val="E2E8F0"/>
                </a:solidFill>
              </a:defRPr>
            </a:pPr>
            <a:r>
              <a:t>•  Project workspace configured</a:t>
            </a:r>
          </a:p>
          <a:p>
            <a:pPr>
              <a:spcBef>
                <a:spcPts val="800"/>
              </a:spcBef>
              <a:defRPr sz="1800">
                <a:solidFill>
                  <a:srgbClr val="E2E8F0"/>
                </a:solidFill>
              </a:defRPr>
            </a:pPr>
            <a:r>
              <a:t>•  Output directory: ./outputs/</a:t>
            </a:r>
          </a:p>
          <a:p>
            <a:pPr>
              <a:spcBef>
                <a:spcPts val="600"/>
              </a:spcBef>
              <a:defRPr sz="1800">
                <a:solidFill>
                  <a:srgbClr val="94A3B8"/>
                </a:solidFill>
              </a:defRPr>
            </a:pPr>
            <a:r>
              <a:t>```</a:t>
            </a:r>
          </a:p>
          <a:p>
            <a:pPr>
              <a:spcBef>
                <a:spcPts val="600"/>
              </a:spcBef>
              <a:defRPr sz="1800">
                <a:solidFill>
                  <a:srgbClr val="94A3B8"/>
                </a:solidFill>
              </a:defRPr>
            </a:pPr>
            <a:r>
              <a:t>### Deployment Workflow</a:t>
            </a:r>
          </a:p>
          <a:p>
            <a:pPr>
              <a:spcBef>
                <a:spcPts val="600"/>
              </a:spcBef>
              <a:defRPr sz="1800">
                <a:solidFill>
                  <a:srgbClr val="94A3B8"/>
                </a:solidFill>
              </a:defRPr>
            </a:pPr>
            <a:r>
              <a:t>1. **Initialize Project** - Create or switch to desired workspace</a:t>
            </a:r>
          </a:p>
          <a:p>
            <a:pPr>
              <a:spcBef>
                <a:spcPts val="600"/>
              </a:spcBef>
              <a:defRPr sz="1800">
                <a:solidFill>
                  <a:srgbClr val="94A3B8"/>
                </a:solidFill>
              </a:defRPr>
            </a:pPr>
            <a:r>
              <a:t>2. **Configure Skills** - Define procedural knowledge via SKILL.md files</a:t>
            </a:r>
          </a:p>
          <a:p>
            <a:pPr>
              <a:spcBef>
                <a:spcPts val="600"/>
              </a:spcBef>
              <a:defRPr sz="1800">
                <a:solidFill>
                  <a:srgbClr val="94A3B8"/>
                </a:solidFill>
              </a:defRPr>
            </a:pPr>
            <a:r>
              <a:t>3. **Define Agents** - Create cron jobs with skills and schedules</a:t>
            </a:r>
          </a:p>
          <a:p>
            <a:pPr>
              <a:spcBef>
                <a:spcPts val="600"/>
              </a:spcBef>
              <a:defRPr sz="1800">
                <a:solidFill>
                  <a:srgbClr val="94A3B8"/>
                </a:solidFill>
              </a:defRPr>
            </a:pPr>
            <a:r>
              <a:t>4. **Deploy Subagents** - Use delegate_task for parallel workstreams</a:t>
            </a:r>
          </a:p>
          <a:p>
            <a:pPr>
              <a:spcBef>
                <a:spcPts val="600"/>
              </a:spcBef>
              <a:defRPr sz="1800">
                <a:solidFill>
                  <a:srgbClr val="94A3B8"/>
                </a:solidFill>
              </a:defRPr>
            </a:pPr>
            <a:r>
              <a:t>5. **Monitor** - Track execution via process polling and logs</a:t>
            </a:r>
          </a:p>
          <a:p>
            <a:pPr>
              <a:spcBef>
                <a:spcPts val="600"/>
              </a:spcBef>
              <a:defRPr sz="1800">
                <a:solidFill>
                  <a:srgbClr val="94A3B8"/>
                </a:solidFill>
              </a:defRPr>
            </a:pPr>
            <a:r>
              <a:t>### Quality Assurance</a:t>
            </a:r>
          </a:p>
          <a:p>
            <a:pPr>
              <a:spcBef>
                <a:spcPts val="800"/>
              </a:spcBef>
              <a:defRPr sz="1800">
                <a:solidFill>
                  <a:srgbClr val="E2E8F0"/>
                </a:solidFill>
              </a:defRPr>
            </a:pPr>
            <a:r>
              <a:t>•  **Verification**: Format-aware readers verify PDF/PPTX/DOCX outputs</a:t>
            </a:r>
          </a:p>
          <a:p>
            <a:pPr>
              <a:spcBef>
                <a:spcPts val="800"/>
              </a:spcBef>
              <a:defRPr sz="1800">
                <a:solidFill>
                  <a:srgbClr val="E2E8F0"/>
                </a:solidFill>
              </a:defRPr>
            </a:pPr>
            <a:r>
              <a:t>•  **Testing**: Systematic debugging with 4-phase root cause analysis</a:t>
            </a:r>
          </a:p>
          <a:p>
            <a:pPr>
              <a:spcBef>
                <a:spcPts val="800"/>
              </a:spcBef>
              <a:defRPr sz="1800">
                <a:solidFill>
                  <a:srgbClr val="E2E8F0"/>
                </a:solidFill>
              </a:defRPr>
            </a:pPr>
            <a:r>
              <a:t>•  **Security**: Code review before deployment with auto-fix capabilities</a:t>
            </a:r>
          </a:p>
          <a:p>
            <a:pPr>
              <a:spcBef>
                <a:spcPts val="800"/>
              </a:spcBef>
              <a:defRPr sz="1800">
                <a:solidFill>
                  <a:srgbClr val="E2E8F0"/>
                </a:solidFill>
              </a:defRPr>
            </a:pPr>
            <a:r>
              <a:t>•  **Documentation**: Comprehensive system architecture documentation</a:t>
            </a:r>
          </a:p>
          <a:p>
            <a:pPr>
              <a:spcBef>
                <a:spcPts val="600"/>
              </a:spcBef>
              <a:defRPr sz="1800">
                <a:solidFill>
                  <a:srgbClr val="94A3B8"/>
                </a:solidFill>
              </a:defRPr>
            </a:pPr>
            <a:r>
              <a:t>### Next Steps</a:t>
            </a:r>
          </a:p>
          <a:p>
            <a:pPr>
              <a:spcBef>
                <a:spcPts val="800"/>
              </a:spcBef>
              <a:defRPr sz="1800">
                <a:solidFill>
                  <a:srgbClr val="E2E8F0"/>
                </a:solidFill>
              </a:defRPr>
            </a:pPr>
            <a:r>
              <a:t>•  [ ] Deploy to production environment</a:t>
            </a:r>
          </a:p>
          <a:p>
            <a:pPr>
              <a:spcBef>
                <a:spcPts val="800"/>
              </a:spcBef>
              <a:defRPr sz="1800">
                <a:solidFill>
                  <a:srgbClr val="E2E8F0"/>
                </a:solidFill>
              </a:defRPr>
            </a:pPr>
            <a:r>
              <a:t>•  [ ] Set up monitoring dashboards</a:t>
            </a:r>
          </a:p>
          <a:p>
            <a:pPr>
              <a:spcBef>
                <a:spcPts val="800"/>
              </a:spcBef>
              <a:defRPr sz="1800">
                <a:solidFill>
                  <a:srgbClr val="E2E8F0"/>
                </a:solidFill>
              </a:defRPr>
            </a:pPr>
            <a:r>
              <a:t>•  [ ] Configure backup and recovery procedures</a:t>
            </a:r>
          </a:p>
          <a:p>
            <a:pPr>
              <a:spcBef>
                <a:spcPts val="800"/>
              </a:spcBef>
              <a:defRPr sz="1800">
                <a:solidFill>
                  <a:srgbClr val="E2E8F0"/>
                </a:solidFill>
              </a:defRPr>
            </a:pPr>
            <a:r>
              <a:t>•  [ ] Document operational runbooks</a:t>
            </a:r>
          </a:p>
          <a:p>
            <a:pPr>
              <a:spcBef>
                <a:spcPts val="600"/>
              </a:spcBef>
              <a:defRPr sz="1800">
                <a:solidFill>
                  <a:srgbClr val="94A3B8"/>
                </a:solidFill>
              </a:defRPr>
            </a:pPr>
            <a:r>
              <a:t>---</a:t>
            </a:r>
          </a:p>
          <a:p>
            <a:pPr>
              <a:spcBef>
                <a:spcPts val="600"/>
              </a:spcBef>
              <a:defRPr sz="1800">
                <a:solidFill>
                  <a:srgbClr val="94A3B8"/>
                </a:solidFill>
              </a:defRPr>
            </a:pPr>
            <a:r>
              <a:t>*Generated for AI Architecture Review - INDRA AI Framework*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