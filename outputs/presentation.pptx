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38BDF8"/>
                </a:solidFill>
                <a:latin typeface="Calibri"/>
              </a:defRPr>
            </a:pPr>
            <a:r>
              <a:t>MIHIR KHATRI</a:t>
            </a:r>
          </a:p>
          <a:p>
            <a:pPr>
              <a:spcBef>
                <a:spcPts val="1400"/>
              </a:spcBef>
              <a:defRPr sz="2600" b="1">
                <a:solidFill>
                  <a:srgbClr val="FFFFFF"/>
                </a:solidFill>
                <a:latin typeface="Calibri"/>
              </a:defRPr>
            </a:pPr>
            <a:r>
              <a:t>Undergraduate Researcher in AI &amp; Machine Learning</a:t>
            </a:r>
          </a:p>
          <a:p>
            <a:pPr>
              <a:spcBef>
                <a:spcPts val="2400"/>
              </a:spcBef>
              <a:defRPr sz="1800">
                <a:solidFill>
                  <a:srgbClr val="E2E8F0"/>
                </a:solidFill>
                <a:latin typeface="Calibri"/>
              </a:defRPr>
            </a:pPr>
            <a:r>
              <a:t>Vasai, India  |  khatrimihir672@gmail.com  |  +91 9226570903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Calibri"/>
              </a:defRPr>
            </a:pPr>
            <a:r>
              <a:t>GitHub  |  Portfolio  |  Kaggle  |  ORCID: 0009-0004-9166-6891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PROFESSIONAL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Undergraduate researcher (GPA 9.4 / 10.0) focused on LLM efficiency, alignment-adjacent interpretability, and GPU-aware inference optimisation.</a:t>
            </a:r>
          </a:p>
          <a:p>
            <a:pPr>
              <a:spcBef>
                <a:spcPts val="1800"/>
              </a:spcBef>
              <a:defRPr sz="2000">
                <a:solidFill>
                  <a:srgbClr val="E2E8F0"/>
                </a:solidFill>
              </a:defRPr>
            </a:pPr>
            <a:r>
              <a:t>Strong statistical-testing background (significance testing, large-scale multi-subset evaluation) and comfort working across research code and production ML pipelines.</a:t>
            </a:r>
          </a:p>
          <a:p>
            <a:pPr>
              <a:spcBef>
                <a:spcPts val="1800"/>
              </a:spcBef>
              <a:defRPr sz="2000">
                <a:solidFill>
                  <a:srgbClr val="E2E8F0"/>
                </a:solidFill>
              </a:defRPr>
            </a:pPr>
            <a:r>
              <a:t>Authored an independent first-author research preprint (Zenodo) on quantisation-compatible KV-cache compression, benchmarked across multiple transformer architectures.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KEY RESEARCH &amp;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900" b="1">
                <a:solidFill>
                  <a:srgbClr val="38BDF8"/>
                </a:solidFill>
              </a:defRPr>
            </a:pPr>
            <a:r>
              <a:t>1. EEG-LLM Decoding System (Independent Research, 2025)</a:t>
            </a:r>
          </a:p>
          <a:p>
            <a:pPr>
              <a:spcBef>
                <a:spcPts val="300"/>
              </a:spcBef>
              <a:defRPr sz="1500">
                <a:solidFill>
                  <a:srgbClr val="E2E8F0"/>
                </a:solidFill>
              </a:defRPr>
            </a:pPr>
            <a:r>
              <a:t>•  Elastic Net decoder with SMOTE oversampling, robust scaling, and domain adaptation</a:t>
            </a:r>
          </a:p>
          <a:p>
            <a:pPr>
              <a:spcBef>
                <a:spcPts val="300"/>
              </a:spcBef>
              <a:defRPr sz="1500">
                <a:solidFill>
                  <a:srgbClr val="E2E8F0"/>
                </a:solidFill>
              </a:defRPr>
            </a:pPr>
            <a:r>
              <a:t>•  Temporal-window feature extraction (200-800ms post-stimulus)</a:t>
            </a:r>
          </a:p>
          <a:p>
            <a:pPr>
              <a:spcBef>
                <a:spcPts val="300"/>
              </a:spcBef>
              <a:defRPr sz="1500">
                <a:solidFill>
                  <a:srgbClr val="E2E8F0"/>
                </a:solidFill>
              </a:defRPr>
            </a:pPr>
            <a:r>
              <a:t>•  &gt;85% accuracy on neural pattern decoding from non-invasive EEG signals</a:t>
            </a:r>
          </a:p>
          <a:p>
            <a:pPr>
              <a:spcBef>
                <a:spcPts val="1400"/>
              </a:spcBef>
              <a:defRPr sz="1900" b="1">
                <a:solidFill>
                  <a:srgbClr val="38BDF8"/>
                </a:solidFill>
              </a:defRPr>
            </a:pPr>
            <a:r>
              <a:t>2. Transformer Encoder-Decoder from Scratch (2025)</a:t>
            </a:r>
          </a:p>
          <a:p>
            <a:pPr>
              <a:spcBef>
                <a:spcPts val="300"/>
              </a:spcBef>
              <a:defRPr sz="1500">
                <a:solidFill>
                  <a:srgbClr val="E2E8F0"/>
                </a:solidFill>
              </a:defRPr>
            </a:pPr>
            <a:r>
              <a:t>•  Full implementation of multi-head self-attention, causal masking, and positional encoding</a:t>
            </a:r>
          </a:p>
          <a:p>
            <a:pPr>
              <a:spcBef>
                <a:spcPts val="300"/>
              </a:spcBef>
              <a:defRPr sz="1500">
                <a:solidFill>
                  <a:srgbClr val="E2E8F0"/>
                </a:solidFill>
              </a:defRPr>
            </a:pPr>
            <a:r>
              <a:t>•  In-depth analysis of gradient flow, training stability, and architectural behavior</a:t>
            </a:r>
          </a:p>
          <a:p>
            <a:pPr>
              <a:spcBef>
                <a:spcPts val="300"/>
              </a:spcBef>
              <a:defRPr sz="1500">
                <a:solidFill>
                  <a:srgbClr val="E2E8F0"/>
                </a:solidFill>
              </a:defRPr>
            </a:pPr>
            <a:r>
              <a:t>•  Benchmarked against BERT and T5 on summarization and machine translation tasks</a:t>
            </a:r>
          </a:p>
          <a:p>
            <a:pPr>
              <a:spcBef>
                <a:spcPts val="1400"/>
              </a:spcBef>
              <a:defRPr sz="1900" b="1">
                <a:solidFill>
                  <a:srgbClr val="38BDF8"/>
                </a:solidFill>
              </a:defRPr>
            </a:pPr>
            <a:r>
              <a:t>3. Quantisation-Compatible KV-Cache Compression (Zenodo Preprint)</a:t>
            </a:r>
          </a:p>
          <a:p>
            <a:pPr>
              <a:spcBef>
                <a:spcPts val="300"/>
              </a:spcBef>
              <a:defRPr sz="1500">
                <a:solidFill>
                  <a:srgbClr val="E2E8F0"/>
                </a:solidFill>
              </a:defRPr>
            </a:pPr>
            <a:r>
              <a:t>•  Novel compression scheme tailor-made for quantised LLM inference</a:t>
            </a:r>
          </a:p>
          <a:p>
            <a:pPr>
              <a:spcBef>
                <a:spcPts val="300"/>
              </a:spcBef>
              <a:defRPr sz="1500">
                <a:solidFill>
                  <a:srgbClr val="E2E8F0"/>
                </a:solidFill>
              </a:defRPr>
            </a:pPr>
            <a:r>
              <a:t>•  60% KV-cache memory reduction with &lt;1% accuracy loss</a:t>
            </a:r>
          </a:p>
          <a:p>
            <a:pPr>
              <a:spcBef>
                <a:spcPts val="300"/>
              </a:spcBef>
              <a:defRPr sz="1500">
                <a:solidFill>
                  <a:srgbClr val="E2E8F0"/>
                </a:solidFill>
              </a:defRPr>
            </a:pPr>
            <a:r>
              <a:t>•  Evaluated on Llama-2-7B and MPT-7B across 4-bit, 8-bit, and 16-bit precisions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EDUCATION &amp; TECHNICAL EXPERTISE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EDUCATION</a:t>
            </a:r>
          </a:p>
          <a:p>
            <a:pPr>
              <a:spcBef>
                <a:spcPts val="1000"/>
              </a:spcBef>
              <a:defRPr sz="1800" b="1">
                <a:solidFill>
                  <a:srgbClr val="38BDF8"/>
                </a:solidFill>
              </a:defRPr>
            </a:pPr>
            <a:r>
              <a:t>Bachelor of Technology</a:t>
            </a:r>
            <a:br/>
            <a:r>
              <a:t>Computer Science and Engineering</a:t>
            </a:r>
          </a:p>
          <a:p>
            <a:pPr>
              <a:spcBef>
                <a:spcPts val="600"/>
              </a:spcBef>
              <a:defRPr sz="1600">
                <a:solidFill>
                  <a:srgbClr val="E2E8F0"/>
                </a:solidFill>
              </a:defRPr>
            </a:pPr>
            <a:r>
              <a:t>Savitribai Phule Pune University, India</a:t>
            </a:r>
            <a:br/>
            <a:r>
              <a:t>2022 – 2026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Academic CGPA: 9.4 / 10.0</a:t>
            </a:r>
            <a:br/>
            <a:r>
              <a:t>Research GPA: 9.4 / 10.0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SKILLS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t>Deep Learning: </a:t>
            </a:r>
            <a:r>
              <a:rPr b="0">
                <a:solidFill>
                  <a:srgbClr val="E2E8F0"/>
                </a:solidFill>
              </a:rPr>
              <a:t>PyTorch, TensorFlow, Hugging Face Transformers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t>LLM Systems: </a:t>
            </a:r>
            <a:r>
              <a:rPr b="0">
                <a:solidFill>
                  <a:srgbClr val="E2E8F0"/>
                </a:solidFill>
              </a:rPr>
              <a:t>KV-cache, Quantisation, FlashAttention, vLLM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t>Machine Learning: </a:t>
            </a:r>
            <a:r>
              <a:rPr b="0">
                <a:solidFill>
                  <a:srgbClr val="E2E8F0"/>
                </a:solidFill>
              </a:rPr>
              <a:t>SMOTE, Elastic Net, Ensembles, Feature Engineering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t>Tools &amp; Infra: </a:t>
            </a:r>
            <a:r>
              <a:rPr b="0">
                <a:solidFill>
                  <a:srgbClr val="E2E8F0"/>
                </a:solidFill>
              </a:rPr>
              <a:t>Git, Docker, Linux, Jupyter, Pandas, NumPy</a:t>
            </a:r>
          </a:p>
          <a:p>
            <a:pPr>
              <a:spcBef>
                <a:spcPts val="800"/>
              </a:spcBef>
              <a:defRPr sz="1500" b="1">
                <a:solidFill>
                  <a:srgbClr val="38BDF8"/>
                </a:solidFill>
              </a:defRPr>
            </a:pPr>
            <a:r>
              <a:t>Research: </a:t>
            </a:r>
            <a:r>
              <a:rPr b="0">
                <a:solidFill>
                  <a:srgbClr val="E2E8F0"/>
                </a:solidFill>
              </a:rPr>
              <a:t>Literature Review, Statistical Testing, Zenodo Preprints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PUBLICATIONS &amp; ACADEMIC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First-Author Research Preprint (Zenodo, 2025):</a:t>
            </a:r>
          </a:p>
          <a:p>
            <a:pPr>
              <a:spcBef>
                <a:spcPts val="800"/>
              </a:spcBef>
              <a:defRPr sz="2000" b="1">
                <a:solidFill>
                  <a:srgbClr val="38BDF8"/>
                </a:solidFill>
              </a:defRPr>
            </a:pPr>
            <a:r>
              <a:t>"Quantisation-Compatible KV-Cache Compression for Efficient LLM Inference"</a:t>
            </a:r>
          </a:p>
          <a:p>
            <a:pPr>
              <a:spcBef>
                <a:spcPts val="800"/>
              </a:spcBef>
              <a:defRPr sz="1700">
                <a:solidFill>
                  <a:srgbClr val="E2E8F0"/>
                </a:solidFill>
              </a:defRPr>
            </a:pPr>
            <a:r>
              <a:t>Preprint published on Zenodo open repository with reproducible evaluation code and benchmarks.</a:t>
            </a:r>
          </a:p>
          <a:p>
            <a:pPr>
              <a:spcBef>
                <a:spcPts val="2400"/>
              </a:spcBef>
              <a:defRPr sz="2200" b="1">
                <a:solidFill>
                  <a:srgbClr val="FFFFFF"/>
                </a:solidFill>
              </a:defRPr>
            </a:pPr>
            <a:r>
              <a:t>Get in Touch</a:t>
            </a:r>
          </a:p>
          <a:p>
            <a:pPr>
              <a:spcBef>
                <a:spcPts val="800"/>
              </a:spcBef>
              <a:defRPr sz="1700">
                <a:solidFill>
                  <a:srgbClr val="38BDF8"/>
                </a:solidFill>
              </a:defRPr>
            </a:pPr>
            <a:r>
              <a:t>Email: khatrimihir672@gmail.com  |  Phone: +91 9226570903  |  ORCID: 0009-0004-9166-6891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